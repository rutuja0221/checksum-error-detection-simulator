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9065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lege"/>
          <p:cNvSpPr txBox="1"/>
          <p:nvPr/>
        </p:nvSpPr>
        <p:spPr>
          <a:xfrm>
            <a:off x="640080" y="411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Maharshi Karve Mahila Mahavidyalay, Wai</a:t>
            </a:r>
            <a:endParaRPr lang="en-US" sz="1600" dirty="0"/>
          </a:p>
        </p:txBody>
      </p:sp>
      <p:sp>
        <p:nvSpPr>
          <p:cNvPr id="3" name="Project title"/>
          <p:cNvSpPr txBox="1"/>
          <p:nvPr/>
        </p:nvSpPr>
        <p:spPr>
          <a:xfrm>
            <a:off x="640080" y="10972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Checksum Error Detection Simulator Using Python</a:t>
            </a:r>
            <a:endParaRPr lang="en-US" sz="3800" dirty="0"/>
          </a:p>
        </p:txBody>
      </p:sp>
      <p:sp>
        <p:nvSpPr>
          <p:cNvPr id="4" name="Subject"/>
          <p:cNvSpPr txBox="1"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Subject: Computer Networks</a:t>
            </a:r>
            <a:endParaRPr lang="en-US" sz="1800" dirty="0"/>
          </a:p>
        </p:txBody>
      </p:sp>
      <p:sp>
        <p:nvSpPr>
          <p:cNvPr id="5" name="Team card 1"/>
          <p:cNvSpPr/>
          <p:nvPr/>
        </p:nvSpPr>
        <p:spPr>
          <a:xfrm>
            <a:off x="640080" y="338328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2F4BA8"/>
          </a:solidFill>
          <a:ln w="6350">
            <a:solidFill>
              <a:srgbClr val="2F4BA8"/>
            </a:solidFill>
            <a:prstDash val="solid"/>
          </a:ln>
        </p:spPr>
      </p:sp>
      <p:sp>
        <p:nvSpPr>
          <p:cNvPr id="6" name="Team name 1"/>
          <p:cNvSpPr txBox="1"/>
          <p:nvPr/>
        </p:nvSpPr>
        <p:spPr>
          <a:xfrm>
            <a:off x="640080" y="33832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Rutuja Vijay Mandhare</a:t>
            </a:r>
            <a:endParaRPr lang="en-US" sz="1400" dirty="0"/>
          </a:p>
        </p:txBody>
      </p:sp>
      <p:sp>
        <p:nvSpPr>
          <p:cNvPr id="7" name="Team card 2"/>
          <p:cNvSpPr/>
          <p:nvPr/>
        </p:nvSpPr>
        <p:spPr>
          <a:xfrm>
            <a:off x="3337560" y="338328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2F4BA8"/>
          </a:solidFill>
          <a:ln w="6350">
            <a:solidFill>
              <a:srgbClr val="2F4BA8"/>
            </a:solidFill>
            <a:prstDash val="solid"/>
          </a:ln>
        </p:spPr>
      </p:sp>
      <p:sp>
        <p:nvSpPr>
          <p:cNvPr id="8" name="Team name 2"/>
          <p:cNvSpPr txBox="1"/>
          <p:nvPr/>
        </p:nvSpPr>
        <p:spPr>
          <a:xfrm>
            <a:off x="3337560" y="33832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Shruti Navnath Babar</a:t>
            </a:r>
          </a:p>
        </p:txBody>
      </p:sp>
      <p:sp>
        <p:nvSpPr>
          <p:cNvPr id="9" name="Team card 3"/>
          <p:cNvSpPr/>
          <p:nvPr/>
        </p:nvSpPr>
        <p:spPr>
          <a:xfrm>
            <a:off x="6035040" y="338328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2F4BA8"/>
          </a:solidFill>
          <a:ln w="6350">
            <a:solidFill>
              <a:srgbClr val="2F4BA8"/>
            </a:solidFill>
            <a:prstDash val="solid"/>
          </a:ln>
        </p:spPr>
      </p:sp>
      <p:sp>
        <p:nvSpPr>
          <p:cNvPr id="10" name="Team name 3"/>
          <p:cNvSpPr txBox="1"/>
          <p:nvPr/>
        </p:nvSpPr>
        <p:spPr>
          <a:xfrm>
            <a:off x="6035040" y="33832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Aarti Arun Gaikwad</a:t>
            </a:r>
            <a:endParaRPr lang="en-US" sz="1400" dirty="0"/>
          </a:p>
        </p:txBody>
      </p:sp>
      <p:sp>
        <p:nvSpPr>
          <p:cNvPr id="11" name="Academic year"/>
          <p:cNvSpPr txBox="1"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Academic Year 2026 - 2027</a:t>
            </a:r>
            <a:endParaRPr lang="en-US" sz="1400" dirty="0"/>
          </a:p>
        </p:txBody>
      </p:sp>
      <p:sp>
        <p:nvSpPr>
          <p:cNvPr id="1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What is Checksum and Why This Project</a:t>
            </a:r>
            <a:endParaRPr lang="en-US" sz="2800" dirty="0"/>
          </a:p>
        </p:txBody>
      </p:sp>
      <p:sp>
        <p:nvSpPr>
          <p:cNvPr id="3" name="Checksum card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Checksum heading"/>
          <p:cNvSpPr txBox="1"/>
          <p:nvPr/>
        </p:nvSpPr>
        <p:spPr>
          <a:xfrm>
            <a:off x="640080" y="1170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Checksum</a:t>
            </a:r>
            <a:endParaRPr lang="en-US" sz="1800" dirty="0"/>
          </a:p>
        </p:txBody>
      </p:sp>
      <p:sp>
        <p:nvSpPr>
          <p:cNvPr id="5" name="Checksum text"/>
          <p:cNvSpPr txBox="1"/>
          <p:nvPr/>
        </p:nvSpPr>
        <p:spPr>
          <a:xfrm>
            <a:off x="640080" y="160020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Noise and interference can flip bits while data travels over a cable or wireless link. Checksum is an error detection technique: the sender adds 8-bit words with one's complement addition and sends the complement of the sum with the data. The receiver adds everything again; all ones (11111111) means the data is accepted.</a:t>
            </a:r>
            <a:endParaRPr lang="en-US" sz="1400" dirty="0"/>
          </a:p>
        </p:txBody>
      </p:sp>
      <p:sp>
        <p:nvSpPr>
          <p:cNvPr id="6" name="Protocol note"/>
          <p:cNvSpPr txBox="1"/>
          <p:nvPr/>
        </p:nvSpPr>
        <p:spPr>
          <a:xfrm>
            <a:off x="640080" y="37947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Same idea as the Internet checksum in IP, TCP and UDP.</a:t>
            </a:r>
            <a:endParaRPr lang="en-US" sz="1400" dirty="0"/>
          </a:p>
        </p:txBody>
      </p:sp>
      <p:sp>
        <p:nvSpPr>
          <p:cNvPr id="7" name="Problem card"/>
          <p:cNvSpPr/>
          <p:nvPr/>
        </p:nvSpPr>
        <p:spPr>
          <a:xfrm>
            <a:off x="4663440" y="105156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2F4BA8"/>
          </a:solidFill>
          <a:ln w="6350">
            <a:solidFill>
              <a:srgbClr val="2F4BA8"/>
            </a:solidFill>
            <a:prstDash val="solid"/>
          </a:ln>
        </p:spPr>
      </p:sp>
      <p:sp>
        <p:nvSpPr>
          <p:cNvPr id="8" name="Problem text"/>
          <p:cNvSpPr txBox="1"/>
          <p:nvPr/>
        </p:nvSpPr>
        <p:spPr>
          <a:xfrm>
            <a:off x="4800600" y="105156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Problem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Error detection is learnt only through paper numericals. Carry handling is error-prone and it is hard to see how one changed bit affects the result.</a:t>
            </a:r>
            <a:endParaRPr lang="en-US" sz="1600" dirty="0"/>
          </a:p>
        </p:txBody>
      </p:sp>
      <p:sp>
        <p:nvSpPr>
          <p:cNvPr id="9" name="Solution card"/>
          <p:cNvSpPr/>
          <p:nvPr/>
        </p:nvSpPr>
        <p:spPr>
          <a:xfrm>
            <a:off x="4663440" y="292608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2E9E83"/>
          </a:solidFill>
          <a:ln w="6350">
            <a:solidFill>
              <a:srgbClr val="2E9E83"/>
            </a:solidFill>
            <a:prstDash val="solid"/>
          </a:ln>
        </p:spPr>
      </p:sp>
      <p:sp>
        <p:nvSpPr>
          <p:cNvPr id="10" name="Solution text"/>
          <p:cNvSpPr txBox="1"/>
          <p:nvPr/>
        </p:nvSpPr>
        <p:spPr>
          <a:xfrm>
            <a:off x="4800600" y="292608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Our Solution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A web-based simulator: enter 8-bit data, see the checksum, flip any bit, and watch the receiver detect the error instantly.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How Checksum Works: Example</a:t>
            </a:r>
            <a:endParaRPr lang="en-US" sz="2800" dirty="0"/>
          </a:p>
        </p:txBody>
      </p:sp>
      <p:sp>
        <p:nvSpPr>
          <p:cNvPr id="3" name="Step card 1"/>
          <p:cNvSpPr/>
          <p:nvPr/>
        </p:nvSpPr>
        <p:spPr>
          <a:xfrm>
            <a:off x="457200" y="1051560"/>
            <a:ext cx="3657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Step badge 1"/>
          <p:cNvSpPr/>
          <p:nvPr/>
        </p:nvSpPr>
        <p:spPr>
          <a:xfrm>
            <a:off x="594360" y="123444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Step badge 1 number"/>
          <p:cNvSpPr txBox="1"/>
          <p:nvPr/>
        </p:nvSpPr>
        <p:spPr>
          <a:xfrm>
            <a:off x="59436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Step text 1"/>
          <p:cNvSpPr txBox="1"/>
          <p:nvPr/>
        </p:nvSpPr>
        <p:spPr>
          <a:xfrm>
            <a:off x="1188720" y="10515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Add the words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Add all 8-bit words</a:t>
            </a:r>
            <a:endParaRPr lang="en-US" sz="1500" dirty="0"/>
          </a:p>
        </p:txBody>
      </p:sp>
      <p:sp>
        <p:nvSpPr>
          <p:cNvPr id="7" name="Step card 2"/>
          <p:cNvSpPr/>
          <p:nvPr/>
        </p:nvSpPr>
        <p:spPr>
          <a:xfrm>
            <a:off x="457200" y="1938528"/>
            <a:ext cx="3657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Step badge 2"/>
          <p:cNvSpPr/>
          <p:nvPr/>
        </p:nvSpPr>
        <p:spPr>
          <a:xfrm>
            <a:off x="594360" y="2121408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" name="Step badge 2 number"/>
          <p:cNvSpPr txBox="1"/>
          <p:nvPr/>
        </p:nvSpPr>
        <p:spPr>
          <a:xfrm>
            <a:off x="594360" y="2121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Step text 2"/>
          <p:cNvSpPr txBox="1"/>
          <p:nvPr/>
        </p:nvSpPr>
        <p:spPr>
          <a:xfrm>
            <a:off x="1188720" y="193852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Wrap the carry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Add carry beyond 8 bits back</a:t>
            </a:r>
            <a:endParaRPr lang="en-US" sz="1500" dirty="0"/>
          </a:p>
        </p:txBody>
      </p:sp>
      <p:sp>
        <p:nvSpPr>
          <p:cNvPr id="11" name="Step card 3"/>
          <p:cNvSpPr/>
          <p:nvPr/>
        </p:nvSpPr>
        <p:spPr>
          <a:xfrm>
            <a:off x="457200" y="2825496"/>
            <a:ext cx="3657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Step badge 3"/>
          <p:cNvSpPr/>
          <p:nvPr/>
        </p:nvSpPr>
        <p:spPr>
          <a:xfrm>
            <a:off x="594360" y="3008376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Step badge 3 number"/>
          <p:cNvSpPr txBox="1"/>
          <p:nvPr/>
        </p:nvSpPr>
        <p:spPr>
          <a:xfrm>
            <a:off x="594360" y="3008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Step text 3"/>
          <p:cNvSpPr txBox="1"/>
          <p:nvPr/>
        </p:nvSpPr>
        <p:spPr>
          <a:xfrm>
            <a:off x="1188720" y="2825496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Complement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Flip all bits: this is the checksum</a:t>
            </a:r>
            <a:endParaRPr lang="en-US" sz="1500" dirty="0"/>
          </a:p>
        </p:txBody>
      </p:sp>
      <p:sp>
        <p:nvSpPr>
          <p:cNvPr id="15" name="Step card 4"/>
          <p:cNvSpPr/>
          <p:nvPr/>
        </p:nvSpPr>
        <p:spPr>
          <a:xfrm>
            <a:off x="457200" y="3712464"/>
            <a:ext cx="3657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Step badge 4"/>
          <p:cNvSpPr/>
          <p:nvPr/>
        </p:nvSpPr>
        <p:spPr>
          <a:xfrm>
            <a:off x="594360" y="3895344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Step badge 4 number"/>
          <p:cNvSpPr txBox="1"/>
          <p:nvPr/>
        </p:nvSpPr>
        <p:spPr>
          <a:xfrm>
            <a:off x="594360" y="3895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Step text 4"/>
          <p:cNvSpPr txBox="1"/>
          <p:nvPr/>
        </p:nvSpPr>
        <p:spPr>
          <a:xfrm>
            <a:off x="1188720" y="371246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Verify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Receiver sum must be 11111111</a:t>
            </a:r>
            <a:endParaRPr lang="en-US" sz="1500" dirty="0"/>
          </a:p>
        </p:txBody>
      </p:sp>
      <p:graphicFrame>
        <p:nvGraphicFramePr>
          <p:cNvPr id="19" name="Worked examp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6027"/>
              </p:ext>
            </p:extLst>
          </p:nvPr>
        </p:nvGraphicFramePr>
        <p:xfrm>
          <a:off x="4389120" y="1051560"/>
          <a:ext cx="4297680" cy="343814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3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Word 1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10110010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Word 2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11001010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Sum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101111100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After wrap-around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01111101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Checksum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10000010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Receiver, no error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01111101 + 10000010 = 11111111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Receiver, bit flipped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01111111: error detected</a:t>
                      </a:r>
                      <a:endParaRPr lang="en-US" sz="1200" dirty="0"/>
                    </a:p>
                  </a:txBody>
                  <a:tcPr marT="27432" marB="27432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System Architecture and Tools</a:t>
            </a:r>
            <a:endParaRPr lang="en-US" sz="2800" dirty="0"/>
          </a:p>
        </p:txBody>
      </p:sp>
      <p:sp>
        <p:nvSpPr>
          <p:cNvPr id="3" name="Architecture box 1"/>
          <p:cNvSpPr/>
          <p:nvPr/>
        </p:nvSpPr>
        <p:spPr>
          <a:xfrm>
            <a:off x="457200" y="10515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E9E83"/>
          </a:solidFill>
          <a:ln w="6350">
            <a:solidFill>
              <a:srgbClr val="2E9E83"/>
            </a:solidFill>
            <a:prstDash val="solid"/>
          </a:ln>
        </p:spPr>
      </p:sp>
      <p:sp>
        <p:nvSpPr>
          <p:cNvPr id="4" name="Architecture text 1"/>
          <p:cNvSpPr txBox="1"/>
          <p:nvPr/>
        </p:nvSpPr>
        <p:spPr>
          <a:xfrm>
            <a:off x="502920" y="1051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Web Browser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index.html, style.css, script.js</a:t>
            </a:r>
            <a:endParaRPr lang="en-US" sz="1400" dirty="0"/>
          </a:p>
        </p:txBody>
      </p:sp>
      <p:sp>
        <p:nvSpPr>
          <p:cNvPr id="5" name="Architecture box 2"/>
          <p:cNvSpPr/>
          <p:nvPr/>
        </p:nvSpPr>
        <p:spPr>
          <a:xfrm>
            <a:off x="3383280" y="10515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4A52E"/>
          </a:solidFill>
          <a:ln w="6350">
            <a:solidFill>
              <a:srgbClr val="F4A52E"/>
            </a:solidFill>
            <a:prstDash val="solid"/>
          </a:ln>
        </p:spPr>
      </p:sp>
      <p:sp>
        <p:nvSpPr>
          <p:cNvPr id="6" name="Architecture text 2"/>
          <p:cNvSpPr txBox="1"/>
          <p:nvPr/>
        </p:nvSpPr>
        <p:spPr>
          <a:xfrm>
            <a:off x="3429000" y="1051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Flask Server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app.py: REST APIs</a:t>
            </a:r>
            <a:endParaRPr lang="en-US" sz="1400" dirty="0"/>
          </a:p>
        </p:txBody>
      </p:sp>
      <p:sp>
        <p:nvSpPr>
          <p:cNvPr id="7" name="Architecture box 3"/>
          <p:cNvSpPr/>
          <p:nvPr/>
        </p:nvSpPr>
        <p:spPr>
          <a:xfrm>
            <a:off x="6309360" y="10515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F4BA8"/>
          </a:solidFill>
          <a:ln w="6350">
            <a:solidFill>
              <a:srgbClr val="2F4BA8"/>
            </a:solidFill>
            <a:prstDash val="solid"/>
          </a:ln>
        </p:spPr>
      </p:sp>
      <p:sp>
        <p:nvSpPr>
          <p:cNvPr id="8" name="Architecture text 3"/>
          <p:cNvSpPr txBox="1"/>
          <p:nvPr/>
        </p:nvSpPr>
        <p:spPr>
          <a:xfrm>
            <a:off x="6355080" y="1051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Python Logic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valid_word(), calculate_checksum()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34640" y="1371600"/>
            <a:ext cx="548640" cy="0"/>
          </a:xfrm>
          <a:prstGeom prst="line">
            <a:avLst/>
          </a:prstGeom>
          <a:noFill/>
          <a:ln w="19050">
            <a:solidFill>
              <a:srgbClr val="6C7A9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83280" y="1691640"/>
            <a:ext cx="0" cy="0"/>
          </a:xfrm>
          <a:prstGeom prst="line">
            <a:avLst/>
          </a:prstGeom>
          <a:noFill/>
          <a:ln w="19050">
            <a:solidFill>
              <a:srgbClr val="6C7A9C"/>
            </a:solidFill>
            <a:prstDash val="solid"/>
            <a:tailEnd type="triangle"/>
          </a:ln>
        </p:spPr>
      </p:sp>
      <p:sp>
        <p:nvSpPr>
          <p:cNvPr id="11" name="Request label 1"/>
          <p:cNvSpPr txBox="1"/>
          <p:nvPr/>
        </p:nvSpPr>
        <p:spPr>
          <a:xfrm>
            <a:off x="2834640" y="1097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</a:rPr>
              <a:t>request</a:t>
            </a:r>
            <a:endParaRPr lang="en-US" sz="1000" dirty="0"/>
          </a:p>
        </p:txBody>
      </p:sp>
      <p:sp>
        <p:nvSpPr>
          <p:cNvPr id="12" name="Response label 1"/>
          <p:cNvSpPr txBox="1"/>
          <p:nvPr/>
        </p:nvSpPr>
        <p:spPr>
          <a:xfrm>
            <a:off x="2834640" y="17190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</a:rPr>
              <a:t>response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1371600"/>
            <a:ext cx="548640" cy="0"/>
          </a:xfrm>
          <a:prstGeom prst="line">
            <a:avLst/>
          </a:prstGeom>
          <a:noFill/>
          <a:ln w="19050">
            <a:solidFill>
              <a:srgbClr val="6C7A9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1691640"/>
            <a:ext cx="0" cy="0"/>
          </a:xfrm>
          <a:prstGeom prst="line">
            <a:avLst/>
          </a:prstGeom>
          <a:noFill/>
          <a:ln w="19050">
            <a:solidFill>
              <a:srgbClr val="6C7A9C"/>
            </a:solidFill>
            <a:prstDash val="solid"/>
            <a:tailEnd type="triangle"/>
          </a:ln>
        </p:spPr>
      </p:sp>
      <p:sp>
        <p:nvSpPr>
          <p:cNvPr id="15" name="Request label 2"/>
          <p:cNvSpPr txBox="1"/>
          <p:nvPr/>
        </p:nvSpPr>
        <p:spPr>
          <a:xfrm>
            <a:off x="5760720" y="1097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</a:rPr>
              <a:t>request</a:t>
            </a:r>
            <a:endParaRPr lang="en-US" sz="1000" dirty="0"/>
          </a:p>
        </p:txBody>
      </p:sp>
      <p:sp>
        <p:nvSpPr>
          <p:cNvPr id="16" name="Response label 2"/>
          <p:cNvSpPr txBox="1"/>
          <p:nvPr/>
        </p:nvSpPr>
        <p:spPr>
          <a:xfrm>
            <a:off x="5760720" y="17190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</a:rPr>
              <a:t>response</a:t>
            </a:r>
            <a:endParaRPr lang="en-US" sz="1000" dirty="0"/>
          </a:p>
        </p:txBody>
      </p:sp>
      <p:sp>
        <p:nvSpPr>
          <p:cNvPr id="17" name="API card 1"/>
          <p:cNvSpPr/>
          <p:nvPr/>
        </p:nvSpPr>
        <p:spPr>
          <a:xfrm>
            <a:off x="45720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API text 1"/>
          <p:cNvSpPr txBox="1"/>
          <p:nvPr/>
        </p:nvSpPr>
        <p:spPr>
          <a:xfrm>
            <a:off x="594360" y="22860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POST /api/calculate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Input: words (8-bit strings). Output: checksum.</a:t>
            </a:r>
            <a:endParaRPr lang="en-US" sz="1400" dirty="0"/>
          </a:p>
        </p:txBody>
      </p:sp>
      <p:sp>
        <p:nvSpPr>
          <p:cNvPr id="19" name="API card 2"/>
          <p:cNvSpPr/>
          <p:nvPr/>
        </p:nvSpPr>
        <p:spPr>
          <a:xfrm>
            <a:off x="466344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API text 2"/>
          <p:cNvSpPr txBox="1"/>
          <p:nvPr/>
        </p:nvSpPr>
        <p:spPr>
          <a:xfrm>
            <a:off x="4800600" y="22860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POST /api/verify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Input: words and checksum. Output: valid and message.</a:t>
            </a:r>
            <a:endParaRPr lang="en-US" sz="1400" dirty="0"/>
          </a:p>
        </p:txBody>
      </p:sp>
      <p:sp>
        <p:nvSpPr>
          <p:cNvPr id="21" name="Tool card 1"/>
          <p:cNvSpPr/>
          <p:nvPr/>
        </p:nvSpPr>
        <p:spPr>
          <a:xfrm>
            <a:off x="457200" y="36118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2F4BA8"/>
          </a:solidFill>
          <a:ln w="6350">
            <a:solidFill>
              <a:srgbClr val="2F4BA8"/>
            </a:solidFill>
            <a:prstDash val="solid"/>
          </a:ln>
        </p:spPr>
      </p:sp>
      <p:sp>
        <p:nvSpPr>
          <p:cNvPr id="22" name="Tool text 1"/>
          <p:cNvSpPr txBox="1"/>
          <p:nvPr/>
        </p:nvSpPr>
        <p:spPr>
          <a:xfrm>
            <a:off x="457200" y="36118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Python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Backend logic</a:t>
            </a:r>
            <a:endParaRPr lang="en-US" sz="1500" dirty="0"/>
          </a:p>
        </p:txBody>
      </p:sp>
      <p:sp>
        <p:nvSpPr>
          <p:cNvPr id="23" name="Tool card 2"/>
          <p:cNvSpPr/>
          <p:nvPr/>
        </p:nvSpPr>
        <p:spPr>
          <a:xfrm>
            <a:off x="2560320" y="36118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2F4BA8"/>
          </a:solidFill>
          <a:ln w="6350">
            <a:solidFill>
              <a:srgbClr val="2F4BA8"/>
            </a:solidFill>
            <a:prstDash val="solid"/>
          </a:ln>
        </p:spPr>
      </p:sp>
      <p:sp>
        <p:nvSpPr>
          <p:cNvPr id="24" name="Tool text 2"/>
          <p:cNvSpPr txBox="1"/>
          <p:nvPr/>
        </p:nvSpPr>
        <p:spPr>
          <a:xfrm>
            <a:off x="2560320" y="36118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Flask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Web framework</a:t>
            </a:r>
            <a:endParaRPr lang="en-US" sz="1500" dirty="0"/>
          </a:p>
        </p:txBody>
      </p:sp>
      <p:sp>
        <p:nvSpPr>
          <p:cNvPr id="25" name="Tool card 3"/>
          <p:cNvSpPr/>
          <p:nvPr/>
        </p:nvSpPr>
        <p:spPr>
          <a:xfrm>
            <a:off x="4663440" y="36118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2F4BA8"/>
          </a:solidFill>
          <a:ln w="6350">
            <a:solidFill>
              <a:srgbClr val="2F4BA8"/>
            </a:solidFill>
            <a:prstDash val="solid"/>
          </a:ln>
        </p:spPr>
      </p:sp>
      <p:sp>
        <p:nvSpPr>
          <p:cNvPr id="26" name="Tool text 3"/>
          <p:cNvSpPr txBox="1"/>
          <p:nvPr/>
        </p:nvSpPr>
        <p:spPr>
          <a:xfrm>
            <a:off x="4663440" y="36118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HTML, CSS, JS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Frontend</a:t>
            </a:r>
            <a:endParaRPr lang="en-US" sz="1500" dirty="0"/>
          </a:p>
        </p:txBody>
      </p:sp>
      <p:sp>
        <p:nvSpPr>
          <p:cNvPr id="27" name="Tool card 4"/>
          <p:cNvSpPr/>
          <p:nvPr/>
        </p:nvSpPr>
        <p:spPr>
          <a:xfrm>
            <a:off x="6766560" y="36118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2F4BA8"/>
          </a:solidFill>
          <a:ln w="6350">
            <a:solidFill>
              <a:srgbClr val="2F4BA8"/>
            </a:solidFill>
            <a:prstDash val="solid"/>
          </a:ln>
        </p:spPr>
      </p:sp>
      <p:sp>
        <p:nvSpPr>
          <p:cNvPr id="28" name="Tool text 4"/>
          <p:cNvSpPr txBox="1"/>
          <p:nvPr/>
        </p:nvSpPr>
        <p:spPr>
          <a:xfrm>
            <a:off x="6766560" y="361188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VS Code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Code editor</a:t>
            </a:r>
            <a:endParaRPr lang="en-US" sz="15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Core Logic in Python (app.py)</a:t>
            </a:r>
            <a:endParaRPr lang="en-US" sz="2800" dirty="0"/>
          </a:p>
        </p:txBody>
      </p:sp>
      <p:sp>
        <p:nvSpPr>
          <p:cNvPr id="3" name="Code card"/>
          <p:cNvSpPr/>
          <p:nvPr/>
        </p:nvSpPr>
        <p:spPr>
          <a:xfrm>
            <a:off x="457200" y="1051560"/>
            <a:ext cx="4846320" cy="3566160"/>
          </a:xfrm>
          <a:prstGeom prst="roundRect">
            <a:avLst>
              <a:gd name="adj" fmla="val 2051"/>
            </a:avLst>
          </a:prstGeom>
          <a:solidFill>
            <a:srgbClr val="1A1A2E"/>
          </a:solidFill>
          <a:ln w="6350">
            <a:solidFill>
              <a:srgbClr val="1A1A2E"/>
            </a:solidFill>
            <a:prstDash val="solid"/>
          </a:ln>
        </p:spPr>
      </p:sp>
      <p:sp>
        <p:nvSpPr>
          <p:cNvPr id="4" name="Checksum code"/>
          <p:cNvSpPr txBox="1"/>
          <p:nvPr/>
        </p:nvSpPr>
        <p:spPr>
          <a:xfrm>
            <a:off x="640080" y="1188721"/>
            <a:ext cx="4526280" cy="138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IN" sz="1100" dirty="0">
                <a:solidFill>
                  <a:schemeClr val="bg1"/>
                </a:solidFill>
              </a:rPr>
              <a:t>A. Checksum calculation</a:t>
            </a:r>
            <a:endParaRPr lang="en-US" sz="1100" dirty="0">
              <a:solidFill>
                <a:schemeClr val="bg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1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calculate_checksum</a:t>
            </a: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(words):</a:t>
            </a:r>
          </a:p>
          <a:p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sum(int(word, 2) for word in words)</a:t>
            </a:r>
          </a:p>
          <a:p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total &gt; 255:</a:t>
            </a:r>
          </a:p>
          <a:p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= (total &amp; 255) + (total &gt;&gt; 8)</a:t>
            </a:r>
          </a:p>
          <a:p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checksum_value</a:t>
            </a: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(~total) &amp; 255</a:t>
            </a:r>
          </a:p>
          <a:p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format(</a:t>
            </a:r>
            <a:r>
              <a:rPr lang="en-US" sz="1100" dirty="0" err="1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checksum_value</a:t>
            </a: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"08b")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Note card 1"/>
          <p:cNvSpPr/>
          <p:nvPr/>
        </p:nvSpPr>
        <p:spPr>
          <a:xfrm>
            <a:off x="5486400" y="1051560"/>
            <a:ext cx="3200400" cy="813816"/>
          </a:xfrm>
          <a:prstGeom prst="roundRect">
            <a:avLst>
              <a:gd name="adj" fmla="val 898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Note text 1"/>
          <p:cNvSpPr txBox="1"/>
          <p:nvPr/>
        </p:nvSpPr>
        <p:spPr>
          <a:xfrm>
            <a:off x="5623560" y="1051560"/>
            <a:ext cx="29718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Wrap-around carry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total &amp; 255 keeps 8 bits; total &gt;&gt; 8 adds the carry back</a:t>
            </a:r>
            <a:endParaRPr lang="en-US" sz="1400" dirty="0"/>
          </a:p>
        </p:txBody>
      </p:sp>
      <p:sp>
        <p:nvSpPr>
          <p:cNvPr id="7" name="Note card 2"/>
          <p:cNvSpPr/>
          <p:nvPr/>
        </p:nvSpPr>
        <p:spPr>
          <a:xfrm>
            <a:off x="5486400" y="1956816"/>
            <a:ext cx="3200400" cy="813816"/>
          </a:xfrm>
          <a:prstGeom prst="roundRect">
            <a:avLst>
              <a:gd name="adj" fmla="val 898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Note text 2"/>
          <p:cNvSpPr txBox="1"/>
          <p:nvPr/>
        </p:nvSpPr>
        <p:spPr>
          <a:xfrm>
            <a:off x="5623560" y="1956816"/>
            <a:ext cx="29718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One's complement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~total &amp; 255 flips all 8 bits</a:t>
            </a:r>
            <a:endParaRPr lang="en-US" sz="1400" dirty="0"/>
          </a:p>
        </p:txBody>
      </p:sp>
      <p:sp>
        <p:nvSpPr>
          <p:cNvPr id="9" name="Note card 3"/>
          <p:cNvSpPr/>
          <p:nvPr/>
        </p:nvSpPr>
        <p:spPr>
          <a:xfrm>
            <a:off x="5486400" y="2862072"/>
            <a:ext cx="3200400" cy="813816"/>
          </a:xfrm>
          <a:prstGeom prst="roundRect">
            <a:avLst>
              <a:gd name="adj" fmla="val 898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Note text 3"/>
          <p:cNvSpPr txBox="1"/>
          <p:nvPr/>
        </p:nvSpPr>
        <p:spPr>
          <a:xfrm>
            <a:off x="5623560" y="2862072"/>
            <a:ext cx="29718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Verification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Add words and checksum; valid only if the result is 255</a:t>
            </a:r>
            <a:endParaRPr lang="en-US" sz="1400" dirty="0"/>
          </a:p>
        </p:txBody>
      </p:sp>
      <p:sp>
        <p:nvSpPr>
          <p:cNvPr id="11" name="Note card 4"/>
          <p:cNvSpPr/>
          <p:nvPr/>
        </p:nvSpPr>
        <p:spPr>
          <a:xfrm>
            <a:off x="5486400" y="3767328"/>
            <a:ext cx="3200400" cy="813816"/>
          </a:xfrm>
          <a:prstGeom prst="roundRect">
            <a:avLst>
              <a:gd name="adj" fmla="val 898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Note text 4"/>
          <p:cNvSpPr txBox="1"/>
          <p:nvPr/>
        </p:nvSpPr>
        <p:spPr>
          <a:xfrm>
            <a:off x="5623560" y="3767328"/>
            <a:ext cx="29718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Input validation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valid_word() accepts exactly 8 characters of 0 or 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EE9873-AF15-EBCB-F1CD-42C422740E21}"/>
              </a:ext>
            </a:extLst>
          </p:cNvPr>
          <p:cNvSpPr txBox="1"/>
          <p:nvPr/>
        </p:nvSpPr>
        <p:spPr>
          <a:xfrm>
            <a:off x="502920" y="2680776"/>
            <a:ext cx="4846320" cy="2192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>
                <a:solidFill>
                  <a:schemeClr val="bg1"/>
                </a:solidFill>
              </a:rPr>
              <a:t>B. Checksum verification</a:t>
            </a:r>
          </a:p>
          <a:p>
            <a:r>
              <a:rPr lang="en-IN" sz="1050" dirty="0">
                <a:solidFill>
                  <a:schemeClr val="bg1"/>
                </a:solidFill>
              </a:rPr>
              <a:t>total = sum(int(word, 2) for word in words) + int(checksum, 2)</a:t>
            </a:r>
          </a:p>
          <a:p>
            <a:r>
              <a:rPr lang="en-IN" sz="1050" dirty="0">
                <a:solidFill>
                  <a:schemeClr val="bg1"/>
                </a:solidFill>
              </a:rPr>
              <a:t>while total &gt; 255: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 total = (total &amp; 255) + (total &gt;&gt; 8)</a:t>
            </a:r>
          </a:p>
          <a:p>
            <a:r>
              <a:rPr lang="en-IN" sz="1050" dirty="0">
                <a:solidFill>
                  <a:schemeClr val="bg1"/>
                </a:solidFill>
              </a:rPr>
              <a:t>if total == 255: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 return </a:t>
            </a:r>
            <a:r>
              <a:rPr lang="en-IN" sz="1050" dirty="0" err="1">
                <a:solidFill>
                  <a:schemeClr val="bg1"/>
                </a:solidFill>
              </a:rPr>
              <a:t>jsonify</a:t>
            </a:r>
            <a:r>
              <a:rPr lang="en-IN" sz="1050" dirty="0">
                <a:solidFill>
                  <a:schemeClr val="bg1"/>
                </a:solidFill>
              </a:rPr>
              <a:t>({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     "valid": True,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     "message": "No error detected."    })</a:t>
            </a:r>
          </a:p>
          <a:p>
            <a:r>
              <a:rPr lang="en-IN" sz="1050" dirty="0">
                <a:solidFill>
                  <a:schemeClr val="bg1"/>
                </a:solidFill>
              </a:rPr>
              <a:t>return </a:t>
            </a:r>
            <a:r>
              <a:rPr lang="en-IN" sz="1050" dirty="0" err="1">
                <a:solidFill>
                  <a:schemeClr val="bg1"/>
                </a:solidFill>
              </a:rPr>
              <a:t>jsonify</a:t>
            </a:r>
            <a:r>
              <a:rPr lang="en-IN" sz="1050" dirty="0">
                <a:solidFill>
                  <a:schemeClr val="bg1"/>
                </a:solidFill>
              </a:rPr>
              <a:t>({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 "valid": False,</a:t>
            </a:r>
          </a:p>
          <a:p>
            <a:r>
              <a:rPr lang="en-IN" sz="1050" dirty="0">
                <a:solidFill>
                  <a:schemeClr val="bg1"/>
                </a:solidFill>
              </a:rPr>
              <a:t>    "message": "Error detected in received data."</a:t>
            </a:r>
          </a:p>
          <a:p>
            <a:r>
              <a:rPr lang="en-IN" sz="1050" dirty="0">
                <a:solidFill>
                  <a:schemeClr val="bg1"/>
                </a:solidFill>
              </a:rPr>
              <a:t>})</a:t>
            </a:r>
          </a:p>
          <a:p>
            <a:endParaRPr lang="en-IN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Demo: Sender Side</a:t>
            </a:r>
            <a:endParaRPr lang="en-US" sz="2800" dirty="0"/>
          </a:p>
        </p:txBody>
      </p:sp>
      <p:sp>
        <p:nvSpPr>
          <p:cNvPr id="3" name="Caption input"/>
          <p:cNvSpPr txBox="1"/>
          <p:nvPr/>
        </p:nvSpPr>
        <p:spPr>
          <a:xfrm>
            <a:off x="457200" y="1005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Step 01: Enter 8-bit data words</a:t>
            </a:r>
            <a:endParaRPr lang="en-US" sz="1200" dirty="0"/>
          </a:p>
        </p:txBody>
      </p:sp>
      <p:sp>
        <p:nvSpPr>
          <p:cNvPr id="4" name="Input screenshot frame"/>
          <p:cNvSpPr/>
          <p:nvPr/>
        </p:nvSpPr>
        <p:spPr>
          <a:xfrm>
            <a:off x="429768" y="1298448"/>
            <a:ext cx="4261104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nput screenshot" descr="Data input screen of the simulat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4206240" cy="1938528"/>
          </a:xfrm>
          <a:prstGeom prst="rect">
            <a:avLst/>
          </a:prstGeom>
        </p:spPr>
      </p:pic>
      <p:sp>
        <p:nvSpPr>
          <p:cNvPr id="6" name="Caption checksum"/>
          <p:cNvSpPr txBox="1"/>
          <p:nvPr/>
        </p:nvSpPr>
        <p:spPr>
          <a:xfrm>
            <a:off x="493776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Step 02: Checksum generated by Python server</a:t>
            </a:r>
            <a:endParaRPr lang="en-US" sz="1200" dirty="0"/>
          </a:p>
        </p:txBody>
      </p:sp>
      <p:sp>
        <p:nvSpPr>
          <p:cNvPr id="7" name="Checksum screenshot frame"/>
          <p:cNvSpPr/>
          <p:nvPr/>
        </p:nvSpPr>
        <p:spPr>
          <a:xfrm>
            <a:off x="4910328" y="1298448"/>
            <a:ext cx="3803904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8" name="Checksum screenshot" descr="Generated checksum scre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749040" cy="905256"/>
          </a:xfrm>
          <a:prstGeom prst="rect">
            <a:avLst/>
          </a:prstGeom>
        </p:spPr>
      </p:pic>
      <p:sp>
        <p:nvSpPr>
          <p:cNvPr id="9" name="Caption sender"/>
          <p:cNvSpPr txBox="1"/>
          <p:nvPr/>
        </p:nvSpPr>
        <p:spPr>
          <a:xfrm>
            <a:off x="493776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Step 03: Sender prepares the packet</a:t>
            </a:r>
            <a:endParaRPr lang="en-US" sz="1200" dirty="0"/>
          </a:p>
        </p:txBody>
      </p:sp>
      <p:sp>
        <p:nvSpPr>
          <p:cNvPr id="10" name="Sender screenshot frame"/>
          <p:cNvSpPr/>
          <p:nvPr/>
        </p:nvSpPr>
        <p:spPr>
          <a:xfrm>
            <a:off x="4910328" y="2715768"/>
            <a:ext cx="3803904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1" name="Sender screenshot" descr="Sender stage scree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743200"/>
            <a:ext cx="3749040" cy="1207008"/>
          </a:xfrm>
          <a:prstGeom prst="rect">
            <a:avLst/>
          </a:prstGeom>
        </p:spPr>
      </p:pic>
      <p:sp>
        <p:nvSpPr>
          <p:cNvPr id="12" name="Demo note sender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Example data: 10110010 and 11001010 give checksum 10000010. Add more words with the Add Data Word button or use Load Example.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Demo: Error Simulation and Result</a:t>
            </a:r>
            <a:endParaRPr lang="en-US" sz="2800" dirty="0"/>
          </a:p>
        </p:txBody>
      </p:sp>
      <p:sp>
        <p:nvSpPr>
          <p:cNvPr id="3" name="Caption error"/>
          <p:cNvSpPr txBox="1"/>
          <p:nvPr/>
        </p:nvSpPr>
        <p:spPr>
          <a:xfrm>
            <a:off x="457200" y="1005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Step 04: Flip a bit during transmission</a:t>
            </a:r>
            <a:endParaRPr lang="en-US" sz="1200" dirty="0"/>
          </a:p>
        </p:txBody>
      </p:sp>
      <p:sp>
        <p:nvSpPr>
          <p:cNvPr id="4" name="Error screenshot frame"/>
          <p:cNvSpPr/>
          <p:nvPr/>
        </p:nvSpPr>
        <p:spPr>
          <a:xfrm>
            <a:off x="429768" y="1298448"/>
            <a:ext cx="4535424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Error screenshot" descr="Error simulation with modified da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4480560" cy="2852928"/>
          </a:xfrm>
          <a:prstGeom prst="rect">
            <a:avLst/>
          </a:prstGeom>
        </p:spPr>
      </p:pic>
      <p:sp>
        <p:nvSpPr>
          <p:cNvPr id="6" name="Error note"/>
          <p:cNvSpPr txBox="1"/>
          <p:nvPr/>
        </p:nvSpPr>
        <p:spPr>
          <a:xfrm>
            <a:off x="457200" y="4297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Bit 1 of Data Word 1 flipped: 10110010 becomes 00110010 while the checksum stays 10000010.</a:t>
            </a:r>
            <a:endParaRPr lang="en-US" sz="1200" dirty="0"/>
          </a:p>
        </p:txBody>
      </p:sp>
      <p:sp>
        <p:nvSpPr>
          <p:cNvPr id="7" name="Caption receiver"/>
          <p:cNvSpPr txBox="1"/>
          <p:nvPr/>
        </p:nvSpPr>
        <p:spPr>
          <a:xfrm>
            <a:off x="5303520" y="10058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Step 05: Receiver verifies</a:t>
            </a:r>
            <a:endParaRPr lang="en-US" sz="1200" dirty="0"/>
          </a:p>
        </p:txBody>
      </p:sp>
      <p:sp>
        <p:nvSpPr>
          <p:cNvPr id="8" name="Receiver screenshot frame"/>
          <p:cNvSpPr/>
          <p:nvPr/>
        </p:nvSpPr>
        <p:spPr>
          <a:xfrm>
            <a:off x="5276088" y="1252728"/>
            <a:ext cx="3438144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9" name="Receiver screenshot" descr="Receiver stage scre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280160"/>
            <a:ext cx="3383280" cy="996696"/>
          </a:xfrm>
          <a:prstGeom prst="rect">
            <a:avLst/>
          </a:prstGeom>
        </p:spPr>
      </p:pic>
      <p:sp>
        <p:nvSpPr>
          <p:cNvPr id="10" name="Caption error result"/>
          <p:cNvSpPr txBox="1"/>
          <p:nvPr/>
        </p:nvSpPr>
        <p:spPr>
          <a:xfrm>
            <a:off x="5303520" y="23957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Result with error</a:t>
            </a:r>
            <a:endParaRPr lang="en-US" sz="1200" dirty="0"/>
          </a:p>
        </p:txBody>
      </p:sp>
      <p:sp>
        <p:nvSpPr>
          <p:cNvPr id="11" name="Error result screenshot frame"/>
          <p:cNvSpPr/>
          <p:nvPr/>
        </p:nvSpPr>
        <p:spPr>
          <a:xfrm>
            <a:off x="5276088" y="2642616"/>
            <a:ext cx="3438144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Error result screenshot" descr="Error detected resul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670048"/>
            <a:ext cx="3383280" cy="804672"/>
          </a:xfrm>
          <a:prstGeom prst="rect">
            <a:avLst/>
          </a:prstGeom>
        </p:spPr>
      </p:pic>
      <p:sp>
        <p:nvSpPr>
          <p:cNvPr id="13" name="Caption ok result"/>
          <p:cNvSpPr txBox="1"/>
          <p:nvPr/>
        </p:nvSpPr>
        <p:spPr>
          <a:xfrm>
            <a:off x="5303520" y="3611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Result without error</a:t>
            </a:r>
            <a:endParaRPr lang="en-US" sz="1200" dirty="0"/>
          </a:p>
        </p:txBody>
      </p:sp>
      <p:sp>
        <p:nvSpPr>
          <p:cNvPr id="14" name="No error result screenshot frame"/>
          <p:cNvSpPr/>
          <p:nvPr/>
        </p:nvSpPr>
        <p:spPr>
          <a:xfrm>
            <a:off x="5276088" y="3858768"/>
            <a:ext cx="3438144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5" name="No error result screenshot" descr="No error detected resul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3886200"/>
            <a:ext cx="3383280" cy="8046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Advantages and Future Scope</a:t>
            </a:r>
            <a:endParaRPr lang="en-US" sz="2800" dirty="0"/>
          </a:p>
        </p:txBody>
      </p:sp>
      <p:sp>
        <p:nvSpPr>
          <p:cNvPr id="3" name="Advantages card"/>
          <p:cNvSpPr/>
          <p:nvPr/>
        </p:nvSpPr>
        <p:spPr>
          <a:xfrm>
            <a:off x="457200" y="105156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2F4BA8"/>
          </a:solidFill>
          <a:ln w="6350">
            <a:solidFill>
              <a:srgbClr val="2F4BA8"/>
            </a:solidFill>
            <a:prstDash val="solid"/>
          </a:ln>
        </p:spPr>
      </p:sp>
      <p:sp>
        <p:nvSpPr>
          <p:cNvPr id="4" name="Advantages heading"/>
          <p:cNvSpPr txBox="1"/>
          <p:nvPr/>
        </p:nvSpPr>
        <p:spPr>
          <a:xfrm>
            <a:off x="64008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Advantages</a:t>
            </a:r>
            <a:endParaRPr lang="en-US" sz="1800" dirty="0"/>
          </a:p>
        </p:txBody>
      </p:sp>
      <p:sp>
        <p:nvSpPr>
          <p:cNvPr id="5" name="Advantages list"/>
          <p:cNvSpPr txBox="1"/>
          <p:nvPr/>
        </p:nvSpPr>
        <p:spPr>
          <a:xfrm>
            <a:off x="640080" y="164592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Interactive way to learn checksum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Instant checksum and verification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Step-by-step, easy-to-use interface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Accurate one's complement logic with input validation</a:t>
            </a:r>
          </a:p>
          <a:p>
            <a:pPr marL="285750" indent="-28575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Separate HTML, CSS, JS and Python files: easy to extend</a:t>
            </a:r>
          </a:p>
        </p:txBody>
      </p:sp>
      <p:sp>
        <p:nvSpPr>
          <p:cNvPr id="6" name="Future heading"/>
          <p:cNvSpPr txBox="1"/>
          <p:nvPr/>
        </p:nvSpPr>
        <p:spPr>
          <a:xfrm>
            <a:off x="4297680" y="1051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Future Enhancement</a:t>
            </a:r>
            <a:endParaRPr lang="en-US" sz="1800" dirty="0"/>
          </a:p>
        </p:txBody>
      </p:sp>
      <p:sp>
        <p:nvSpPr>
          <p:cNvPr id="7" name="Future badge 1"/>
          <p:cNvSpPr/>
          <p:nvPr/>
        </p:nvSpPr>
        <p:spPr>
          <a:xfrm>
            <a:off x="4297680" y="159105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8" name="Future badge 1 number"/>
          <p:cNvSpPr txBox="1"/>
          <p:nvPr/>
        </p:nvSpPr>
        <p:spPr>
          <a:xfrm>
            <a:off x="4297680" y="1591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Future item 1"/>
          <p:cNvSpPr txBox="1"/>
          <p:nvPr/>
        </p:nvSpPr>
        <p:spPr>
          <a:xfrm>
            <a:off x="4800600" y="155448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16-bit words and full Internet checksum</a:t>
            </a:r>
            <a:endParaRPr lang="en-US" sz="1400" dirty="0"/>
          </a:p>
        </p:txBody>
      </p:sp>
      <p:sp>
        <p:nvSpPr>
          <p:cNvPr id="10" name="Future badge 2"/>
          <p:cNvSpPr/>
          <p:nvPr/>
        </p:nvSpPr>
        <p:spPr>
          <a:xfrm>
            <a:off x="4297680" y="223113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Future badge 2 number"/>
          <p:cNvSpPr txBox="1"/>
          <p:nvPr/>
        </p:nvSpPr>
        <p:spPr>
          <a:xfrm>
            <a:off x="4297680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Future item 2"/>
          <p:cNvSpPr txBox="1"/>
          <p:nvPr/>
        </p:nvSpPr>
        <p:spPr>
          <a:xfrm>
            <a:off x="4800600" y="219456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Text or file input</a:t>
            </a:r>
            <a:endParaRPr lang="en-US" sz="1400" dirty="0"/>
          </a:p>
        </p:txBody>
      </p:sp>
      <p:sp>
        <p:nvSpPr>
          <p:cNvPr id="16" name="Future badge 3"/>
          <p:cNvSpPr/>
          <p:nvPr/>
        </p:nvSpPr>
        <p:spPr>
          <a:xfrm>
            <a:off x="4297680" y="287121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Future badge 3 number"/>
          <p:cNvSpPr txBox="1"/>
          <p:nvPr/>
        </p:nvSpPr>
        <p:spPr>
          <a:xfrm>
            <a:off x="4297680" y="2871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Future item 3"/>
          <p:cNvSpPr txBox="1"/>
          <p:nvPr/>
        </p:nvSpPr>
        <p:spPr>
          <a:xfrm>
            <a:off x="4800600" y="283464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Multi-bit errors, random error generation</a:t>
            </a:r>
            <a:endParaRPr lang="en-US" sz="1400" dirty="0"/>
          </a:p>
        </p:txBody>
      </p:sp>
      <p:sp>
        <p:nvSpPr>
          <p:cNvPr id="19" name="Future badge 4"/>
          <p:cNvSpPr/>
          <p:nvPr/>
        </p:nvSpPr>
        <p:spPr>
          <a:xfrm>
            <a:off x="4297680" y="351129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0" name="Future badge 4 number"/>
          <p:cNvSpPr txBox="1"/>
          <p:nvPr/>
        </p:nvSpPr>
        <p:spPr>
          <a:xfrm>
            <a:off x="429768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Future item 4"/>
          <p:cNvSpPr txBox="1"/>
          <p:nvPr/>
        </p:nvSpPr>
        <p:spPr>
          <a:xfrm>
            <a:off x="4800600" y="347472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Step-by-step addition table</a:t>
            </a:r>
            <a:endParaRPr lang="en-US" sz="1400" dirty="0"/>
          </a:p>
        </p:txBody>
      </p:sp>
      <p:sp>
        <p:nvSpPr>
          <p:cNvPr id="22" name="Future badge 5"/>
          <p:cNvSpPr/>
          <p:nvPr/>
        </p:nvSpPr>
        <p:spPr>
          <a:xfrm>
            <a:off x="4297680" y="4151376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3" name="Future badge 5 number"/>
          <p:cNvSpPr txBox="1"/>
          <p:nvPr/>
        </p:nvSpPr>
        <p:spPr>
          <a:xfrm>
            <a:off x="4297680" y="4151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Future item 5"/>
          <p:cNvSpPr txBox="1"/>
          <p:nvPr/>
        </p:nvSpPr>
        <p:spPr>
          <a:xfrm>
            <a:off x="4800600" y="4114800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Login, history, online deployment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A9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 you"/>
          <p:cNvSpPr txBox="1"/>
          <p:nvPr/>
        </p:nvSpPr>
        <p:spPr>
          <a:xfrm>
            <a:off x="640080" y="16916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Closing line"/>
          <p:cNvSpPr txBox="1"/>
          <p:nvPr/>
        </p:nvSpPr>
        <p:spPr>
          <a:xfrm>
            <a:off x="640080" y="28346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3"/>
                </a:solidFill>
              </a:rPr>
              <a:t>We hope this project helps students understand error detection in a simple and practical way.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ecksum Navy">
  <a:themeElements>
    <a:clrScheme name="Checksum Navy">
      <a:dk1>
        <a:srgbClr val="1A1A2E"/>
      </a:dk1>
      <a:lt1>
        <a:srgbClr val="FFFFFF"/>
      </a:lt1>
      <a:dk2>
        <a:srgbClr val="1E2761"/>
      </a:dk2>
      <a:lt2>
        <a:srgbClr val="EEF2FB"/>
      </a:lt2>
      <a:accent1>
        <a:srgbClr val="2F4BA8"/>
      </a:accent1>
      <a:accent2>
        <a:srgbClr val="F4A52E"/>
      </a:accent2>
      <a:accent3>
        <a:srgbClr val="CADCFC"/>
      </a:accent3>
      <a:accent4>
        <a:srgbClr val="2E9E83"/>
      </a:accent4>
      <a:accent5>
        <a:srgbClr val="D9534F"/>
      </a:accent5>
      <a:accent6>
        <a:srgbClr val="6C7A9C"/>
      </a:accent6>
      <a:hlink>
        <a:srgbClr val="2F4BA8"/>
      </a:hlink>
      <a:folHlink>
        <a:srgbClr val="6C7A9C"/>
      </a:folHlink>
    </a:clrScheme>
    <a:fontScheme name="Checksum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744</Words>
  <Application>Microsoft Office PowerPoint</Application>
  <PresentationFormat>On-screen Show (16:9)</PresentationFormat>
  <Paragraphs>142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Checksum Navy</vt:lpstr>
      <vt:lpstr>PowerPoint Presentation</vt:lpstr>
      <vt:lpstr>What is Checksum and Why This Project</vt:lpstr>
      <vt:lpstr>How Checksum Works: Example</vt:lpstr>
      <vt:lpstr>System Architecture and Tools</vt:lpstr>
      <vt:lpstr>Core Logic in Python (app.py)</vt:lpstr>
      <vt:lpstr>Demo: Sender Side</vt:lpstr>
      <vt:lpstr>Demo: Error Simulation and Result</vt:lpstr>
      <vt:lpstr>Advantages and Future Scope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Checksum Error Detection Simulator Using Python</dc:title>
  <dc:subject>PptxGenJS Presentation</dc:subject>
  <dc:creator>Rutuja Mandhare, Aarti Gaikwad, Shruti Babar</dc:creator>
  <cp:lastModifiedBy>Rutuja Mandhare</cp:lastModifiedBy>
  <cp:revision>4</cp:revision>
  <dcterms:created xsi:type="dcterms:W3CDTF">2026-10-12T07:35:03Z</dcterms:created>
  <dcterms:modified xsi:type="dcterms:W3CDTF">2026-10-16T01:05:15Z</dcterms:modified>
</cp:coreProperties>
</file>